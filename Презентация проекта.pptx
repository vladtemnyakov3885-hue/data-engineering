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BF120-7BF8-4DF6-AF93-E2AC9CFBF737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4BC00-D8FF-454C-BE7F-93FDFCE0D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25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73741-36B0-BD45-3B77-F23766E6B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DF913-84BD-FFB5-D7A4-EAB521108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E89DC0-9669-1975-70AD-E7795DE1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E84E-422D-420F-88D5-FD7D692BE2B1}" type="datetime1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71EEBE-754C-01BF-C7E4-9AF9FDB5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870980-2A03-D30B-6CE1-03826AE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41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16790-F083-98EE-4D71-FC3B72A2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13082-6F42-151A-2D87-C6B19A50A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703A9A-5730-A3A5-EC99-43FB4B526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C118-7287-4CC3-8674-D77A24DA78E9}" type="datetime1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72FA4F-F0D2-7E50-550F-47B80D8A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FCA2D0-2524-E5C4-6761-77631702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71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5861E-C498-D72D-5493-F006DED37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9794D6-51FE-61C3-A5B3-FF84F29EC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9438F-EB17-13EC-18CC-CE39B11DE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58EC-B1AD-4026-B0D5-5EEFA5822AC2}" type="datetime1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E0B0DC-B513-9D56-A3CD-C42C64E7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3614C0-7CA6-958E-8C5C-CF6A54D7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43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B278C-69EF-C94C-DFCD-E2898C9C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7952FD-A016-B871-54EC-F9ADB2721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320A89-36EB-A919-83F2-B9FC76EC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50DE07-B01B-7B50-5699-506E8AC1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F590-AAD9-44D7-8D50-BDC4E3F1655B}" type="datetime1">
              <a:rPr lang="ru-RU" smtClean="0"/>
              <a:t>03.01.2026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F28299-0608-8345-FB16-1C147CF9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A5DF8C-F54C-D5EB-B6EF-C69B8C53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1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2CBF2E-FB28-BFAC-8058-FD5AA0F1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64FE2B-180B-99DC-11D9-FDDC8D1A8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A3DC68-BA0E-B90D-464B-0A13EC060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783C22-1198-3523-24B7-6928BE1FA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6A2320-1E70-51E3-F1D0-ED5D8145A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7B25B8-142F-CC0B-882C-8F69BD40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AAD2-2FFA-45AE-A8B5-455C02518060}" type="datetime1">
              <a:rPr lang="ru-RU" smtClean="0"/>
              <a:t>03.01.2026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E9F961-C752-141B-FEB4-A72635C6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9153A95-B95D-AEDE-E74E-0FDDA008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100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60142-A291-69DA-9ED0-61A1077B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2BD90E-D866-AEB4-E9FE-F66DFA8A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4353-C4FD-4952-8BD9-B2D105036E9B}" type="datetime1">
              <a:rPr lang="ru-RU" smtClean="0"/>
              <a:t>03.01.2026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DB5E85-D5F0-5A3A-4081-9C3F80C1C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35B680-C64C-B441-DF1F-0EB71C0D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82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77A49D-4312-85C3-A21E-A181EBB8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CEA3-1CF2-423C-BEA9-7E912384882C}" type="datetime1">
              <a:rPr lang="ru-RU" smtClean="0"/>
              <a:t>03.01.2026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E58063E-3907-F5BA-259C-612B1791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30BA52-D3D7-3EE6-8737-D38CAAF0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81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51FC1-25B4-5944-F857-FF9094105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6BB85-FB5E-6FDD-1B13-96EC6D69B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BB8468-7893-2C0A-F935-06EB89940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52D483-E44A-22C2-8772-D94D1331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FDFD-8042-4A2A-9219-DBA08B9E29D6}" type="datetime1">
              <a:rPr lang="ru-RU" smtClean="0"/>
              <a:t>03.01.2026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F08327-C301-61A1-55FA-29F99EFD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A3412B-3ACF-4349-CBF5-84A6688D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49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24ECC-2598-9C6C-06AE-D9F9D9CF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D37CDD-355F-E9ED-2154-39CB728BA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4C5D8E-24C4-3F16-040B-CBDD4C53F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4F913E-AEF5-B95F-5106-705C1CB9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A58F4-7C9A-4C24-A0D1-FE1CC05B0010}" type="datetime1">
              <a:rPr lang="ru-RU" smtClean="0"/>
              <a:t>03.01.2026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378E77-A992-CCC7-184C-5E6802F6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4D875E-BF65-4B2E-FC66-F9F4C9E4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877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10C3D-A94D-9C4A-7AD5-1E272713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E58712-8498-3932-F79D-82083273F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8287B6-7D26-2859-F9A7-4830E408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F3E3D-9298-4931-B085-E459A1CC67CC}" type="datetime1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3FF09C-7131-1443-043B-B332603A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958AD4-8048-9853-914D-4658EEF5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53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0A5BAD-6C28-7EA6-694A-F0CB8E502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8D2B01-22D4-8FA7-E317-B7243D43B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DFFE60-ED5D-DFCF-968B-983A77D9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1B3-480B-498F-BA5E-1DFBFA5A7AE0}" type="datetime1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9FCDFB-732C-0895-1D54-E91D6B3EB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F2DF07-1C09-A555-F2F4-0B2C9252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0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75AE6-9C44-0DBA-A013-2E7A60E24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395951-469F-43A7-9306-F330C2678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3195D4-B79E-76ED-344A-79030F3A6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79E00-BB76-4F88-B59F-F3A2078F0049}" type="datetime1">
              <a:rPr lang="ru-RU" smtClean="0"/>
              <a:t>03.01.2026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681200-8686-27AD-33DE-62DC26977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2B1CD2-3D82-AD9B-0EDD-7C20FE47D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60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B40D7-8218-C57E-70E7-6CBE38E5D4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ПРЕЗЕНТАЦИЯ ПРОЕКТА: АНАЛИТИЧЕСКАЯ ПЛАТФОРМА ДЛЯ СНИЖЕНИЯ ДТП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633A9E-E351-0B6B-523E-6500156FA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0678" y="4857899"/>
            <a:ext cx="2927230" cy="1582947"/>
          </a:xfrm>
        </p:spPr>
        <p:txBody>
          <a:bodyPr/>
          <a:lstStyle/>
          <a:p>
            <a:pPr algn="just"/>
            <a:r>
              <a:rPr lang="ru-RU" sz="1800" dirty="0"/>
              <a:t>Студент: </a:t>
            </a:r>
            <a:r>
              <a:rPr lang="ru-RU" sz="1800" dirty="0" err="1"/>
              <a:t>Темняков</a:t>
            </a:r>
            <a:r>
              <a:rPr lang="ru-RU" sz="1800" dirty="0"/>
              <a:t> В.С.</a:t>
            </a:r>
          </a:p>
          <a:p>
            <a:pPr algn="just"/>
            <a:r>
              <a:rPr lang="ru-RU" sz="1800" dirty="0"/>
              <a:t>Номер ИСУ: 506580</a:t>
            </a:r>
          </a:p>
        </p:txBody>
      </p:sp>
    </p:spTree>
    <p:extLst>
      <p:ext uri="{BB962C8B-B14F-4D97-AF65-F5344CB8AC3E}">
        <p14:creationId xmlns:p14="http://schemas.microsoft.com/office/powerpoint/2010/main" val="55635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6CE9A-EE2B-B42F-697A-F35CBF6E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бизнес-проблема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3155B-02EB-21DD-3CE1-3CDC05961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Цель проекта:</a:t>
            </a:r>
          </a:p>
          <a:p>
            <a:pPr marL="0" indent="0">
              <a:buNone/>
            </a:pPr>
            <a:r>
              <a:rPr lang="ru-RU" dirty="0"/>
              <a:t>Создание </a:t>
            </a:r>
            <a:r>
              <a:rPr lang="ru-RU" dirty="0" err="1"/>
              <a:t>data-driven</a:t>
            </a:r>
            <a:r>
              <a:rPr lang="ru-RU" dirty="0"/>
              <a:t> решений для снижения аварийности через анализ 7.7+ миллионов ДТП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Масштаб проблемы в США</a:t>
            </a:r>
          </a:p>
          <a:p>
            <a:pPr marL="0" indent="0">
              <a:buNone/>
            </a:pPr>
            <a:r>
              <a:rPr lang="ru-RU" dirty="0"/>
              <a:t>Ежегодные потери: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36,000+ смертей на дорогах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$340+ миллиардов экономических потерь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4.4+ миллиона серьезных травм</a:t>
            </a:r>
          </a:p>
          <a:p>
            <a:pPr marL="0" indent="0">
              <a:buNone/>
            </a:pPr>
            <a:r>
              <a:rPr lang="ru-RU" dirty="0"/>
              <a:t> Ключевая проблема: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Отсутствие системного анализа факторов риска для целевых превентивных 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E878AA-9550-EC85-87D2-57E71355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26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0082E-A99F-8817-EC1C-28E2A58B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8E29-8F5D-E222-9C94-C32252B17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Полный </a:t>
            </a:r>
            <a:r>
              <a:rPr lang="en-US" b="1" dirty="0"/>
              <a:t>ETL-</a:t>
            </a:r>
            <a:r>
              <a:rPr lang="ru-RU" b="1" dirty="0"/>
              <a:t>цикл обработки данных</a:t>
            </a:r>
          </a:p>
          <a:p>
            <a:pPr marL="0" indent="0">
              <a:buNone/>
            </a:pPr>
            <a:r>
              <a:rPr lang="ru-RU" dirty="0"/>
              <a:t>Данные --</a:t>
            </a:r>
            <a:r>
              <a:rPr lang="en-US" dirty="0"/>
              <a:t>---</a:t>
            </a:r>
            <a:r>
              <a:rPr lang="ru-RU" dirty="0"/>
              <a:t>--</a:t>
            </a:r>
            <a:r>
              <a:rPr lang="en-US" dirty="0"/>
              <a:t>&gt; ETL -</a:t>
            </a:r>
            <a:r>
              <a:rPr lang="ru-RU" dirty="0"/>
              <a:t>-</a:t>
            </a:r>
            <a:r>
              <a:rPr lang="en-US" dirty="0"/>
              <a:t>---</a:t>
            </a:r>
            <a:r>
              <a:rPr lang="ru-RU" dirty="0"/>
              <a:t>--</a:t>
            </a:r>
            <a:r>
              <a:rPr lang="en-US" dirty="0"/>
              <a:t>&gt; </a:t>
            </a:r>
            <a:r>
              <a:rPr lang="ru-RU" dirty="0"/>
              <a:t>Анализ ---</a:t>
            </a:r>
            <a:r>
              <a:rPr lang="en-US" dirty="0"/>
              <a:t>---</a:t>
            </a:r>
            <a:r>
              <a:rPr lang="ru-RU" dirty="0"/>
              <a:t>-</a:t>
            </a:r>
            <a:r>
              <a:rPr lang="en-US" dirty="0"/>
              <a:t>&gt; </a:t>
            </a:r>
            <a:r>
              <a:rPr lang="ru-RU" dirty="0"/>
              <a:t>Рекомендации</a:t>
            </a:r>
          </a:p>
          <a:p>
            <a:pPr marL="0" indent="0">
              <a:lnSpc>
                <a:spcPts val="1600"/>
              </a:lnSpc>
              <a:buNone/>
            </a:pPr>
            <a:r>
              <a:rPr lang="ru-RU" dirty="0"/>
              <a:t>        </a:t>
            </a:r>
            <a:r>
              <a:rPr lang="en-US" dirty="0"/>
              <a:t>|                 </a:t>
            </a:r>
            <a:r>
              <a:rPr lang="ru-RU" dirty="0"/>
              <a:t>     </a:t>
            </a:r>
            <a:r>
              <a:rPr lang="en-US" dirty="0"/>
              <a:t>     |                  </a:t>
            </a:r>
            <a:r>
              <a:rPr lang="ru-RU" dirty="0"/>
              <a:t>   </a:t>
            </a:r>
            <a:r>
              <a:rPr lang="en-US" dirty="0"/>
              <a:t>      |    </a:t>
            </a:r>
            <a:r>
              <a:rPr lang="ru-RU" dirty="0"/>
              <a:t>      </a:t>
            </a:r>
            <a:r>
              <a:rPr lang="en-US" dirty="0"/>
              <a:t>                            |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dirty="0"/>
              <a:t>        v                </a:t>
            </a:r>
            <a:r>
              <a:rPr lang="ru-RU" dirty="0"/>
              <a:t>     </a:t>
            </a:r>
            <a:r>
              <a:rPr lang="en-US" dirty="0"/>
              <a:t>     v                      </a:t>
            </a:r>
            <a:r>
              <a:rPr lang="ru-RU" dirty="0"/>
              <a:t>   </a:t>
            </a:r>
            <a:r>
              <a:rPr lang="en-US" dirty="0"/>
              <a:t> v    </a:t>
            </a:r>
            <a:r>
              <a:rPr lang="ru-RU" dirty="0"/>
              <a:t>  </a:t>
            </a:r>
            <a:r>
              <a:rPr lang="en-US" dirty="0"/>
              <a:t>    </a:t>
            </a:r>
            <a:r>
              <a:rPr lang="ru-RU" dirty="0"/>
              <a:t>    </a:t>
            </a:r>
            <a:r>
              <a:rPr lang="en-US" dirty="0"/>
              <a:t>                       v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dirty="0"/>
              <a:t>  7.7 </a:t>
            </a:r>
            <a:r>
              <a:rPr lang="ru-RU" dirty="0"/>
              <a:t>млн   </a:t>
            </a:r>
            <a:r>
              <a:rPr lang="en-US" dirty="0"/>
              <a:t> |    </a:t>
            </a:r>
            <a:r>
              <a:rPr lang="ru-RU" dirty="0"/>
              <a:t>Очистка  </a:t>
            </a:r>
            <a:r>
              <a:rPr lang="en-US" dirty="0"/>
              <a:t>  </a:t>
            </a:r>
            <a:r>
              <a:rPr lang="ru-RU" dirty="0"/>
              <a:t> </a:t>
            </a:r>
            <a:r>
              <a:rPr lang="en-US" dirty="0"/>
              <a:t>| </a:t>
            </a:r>
            <a:r>
              <a:rPr lang="ru-RU" dirty="0"/>
              <a:t>   Паттерны  </a:t>
            </a:r>
            <a:r>
              <a:rPr lang="en-US" dirty="0"/>
              <a:t>|</a:t>
            </a:r>
            <a:r>
              <a:rPr lang="ru-RU" dirty="0"/>
              <a:t>  </a:t>
            </a:r>
            <a:r>
              <a:rPr lang="en-US" dirty="0"/>
              <a:t>    </a:t>
            </a:r>
            <a:r>
              <a:rPr lang="ru-RU" dirty="0"/>
              <a:t> Конкретные меры</a:t>
            </a:r>
            <a:endParaRPr lang="en-US" dirty="0"/>
          </a:p>
          <a:p>
            <a:pPr marL="0" indent="0">
              <a:lnSpc>
                <a:spcPts val="1600"/>
              </a:lnSpc>
              <a:buNone/>
            </a:pPr>
            <a:r>
              <a:rPr lang="en-US" dirty="0"/>
              <a:t> </a:t>
            </a:r>
            <a:r>
              <a:rPr lang="ru-RU" dirty="0"/>
              <a:t>записей  </a:t>
            </a:r>
            <a:r>
              <a:rPr lang="en-US" dirty="0"/>
              <a:t> |</a:t>
            </a:r>
            <a:r>
              <a:rPr lang="ru-RU" dirty="0"/>
              <a:t>и типизация</a:t>
            </a:r>
            <a:r>
              <a:rPr lang="en-US" dirty="0"/>
              <a:t>| </a:t>
            </a:r>
            <a:r>
              <a:rPr lang="ru-RU" dirty="0"/>
              <a:t>  и инсайты  </a:t>
            </a:r>
            <a:r>
              <a:rPr lang="en-US" dirty="0"/>
              <a:t>|</a:t>
            </a:r>
          </a:p>
          <a:p>
            <a:pPr marL="0" indent="0">
              <a:lnSpc>
                <a:spcPts val="1600"/>
              </a:lnSpc>
              <a:buNone/>
            </a:pPr>
            <a:endParaRPr lang="en-US" dirty="0"/>
          </a:p>
          <a:p>
            <a:pPr marL="0" indent="0">
              <a:lnSpc>
                <a:spcPts val="1600"/>
              </a:lnSpc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E793E-97AA-3B34-729E-8D8EA13A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7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7C341-35AA-99CA-312F-5E25D16E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и обработка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0DD933F-2C83-741C-E944-AC61F2781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321820"/>
              </p:ext>
            </p:extLst>
          </p:nvPr>
        </p:nvGraphicFramePr>
        <p:xfrm>
          <a:off x="838200" y="2144889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616151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95652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54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Записей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7,728,394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86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Колонок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72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2016-2023 гг.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5155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/>
                        <a:t>Объем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3.06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044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География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штаты США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31651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E4AE35-C056-073B-A25C-7618A509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B3C1E-29A0-499F-2F49-1491218814E8}"/>
              </a:ext>
            </a:extLst>
          </p:cNvPr>
          <p:cNvSpPr txBox="1"/>
          <p:nvPr/>
        </p:nvSpPr>
        <p:spPr>
          <a:xfrm>
            <a:off x="838200" y="4571044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Качество данных после обработки: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Полнота: 95.4%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Уникальность: 100%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Выбросы: 2.01%</a:t>
            </a:r>
          </a:p>
        </p:txBody>
      </p:sp>
    </p:spTree>
    <p:extLst>
      <p:ext uri="{BB962C8B-B14F-4D97-AF65-F5344CB8AC3E}">
        <p14:creationId xmlns:p14="http://schemas.microsoft.com/office/powerpoint/2010/main" val="42385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D96E8-DD9B-2F01-20D1-C926BBCE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298"/>
          </a:xfrm>
        </p:spPr>
        <p:txBody>
          <a:bodyPr>
            <a:normAutofit/>
          </a:bodyPr>
          <a:lstStyle/>
          <a:p>
            <a:r>
              <a:rPr lang="ru-RU" sz="3600" dirty="0"/>
              <a:t>ИНСАЙТ 1 – Временные паттерны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CF159B6-F3A8-74ED-188B-7733A5EEF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52424"/>
            <a:ext cx="7048276" cy="5623423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654407-0546-B5D2-047F-4BC92A9A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56749-767A-C726-4144-C625D32776C3}"/>
              </a:ext>
            </a:extLst>
          </p:cNvPr>
          <p:cNvSpPr txBox="1"/>
          <p:nvPr/>
        </p:nvSpPr>
        <p:spPr>
          <a:xfrm>
            <a:off x="8410754" y="1052424"/>
            <a:ext cx="34419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Когда происходят аварии?</a:t>
            </a:r>
          </a:p>
          <a:p>
            <a:r>
              <a:rPr lang="ru-RU" dirty="0"/>
              <a:t>Пиковое время: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7:00 утра – самый опасный час (более 540 тысяч ДТП)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Пятница – самый опасный день (более 1.2 млн ДТП)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Декабрь – самый опасный месяц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Какова тенденция?</a:t>
            </a:r>
          </a:p>
          <a:p>
            <a:r>
              <a:rPr lang="ru-RU" dirty="0"/>
              <a:t>Рост аварийности на 41% с 2016 по 2022 год с последующим спадом в 2023</a:t>
            </a:r>
          </a:p>
        </p:txBody>
      </p:sp>
    </p:spTree>
    <p:extLst>
      <p:ext uri="{BB962C8B-B14F-4D97-AF65-F5344CB8AC3E}">
        <p14:creationId xmlns:p14="http://schemas.microsoft.com/office/powerpoint/2010/main" val="343143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9F3DE-6947-44D2-FBA7-1015F8F0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ИНСАЙТ 2 - География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D05155-1D62-B537-A41D-895904AE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6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42655-899A-E8EF-1663-F0C55C43674A}"/>
              </a:ext>
            </a:extLst>
          </p:cNvPr>
          <p:cNvSpPr txBox="1"/>
          <p:nvPr/>
        </p:nvSpPr>
        <p:spPr>
          <a:xfrm>
            <a:off x="838198" y="5061584"/>
            <a:ext cx="43908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Где происходят аварии?</a:t>
            </a:r>
          </a:p>
          <a:p>
            <a:pPr marL="342900" indent="-342900">
              <a:buAutoNum type="arabicPeriod"/>
            </a:pPr>
            <a:r>
              <a:rPr lang="ru-RU" dirty="0"/>
              <a:t>Калифорния – 1,741,433 ДТП (22%)</a:t>
            </a:r>
          </a:p>
          <a:p>
            <a:pPr marL="342900" indent="-342900">
              <a:buAutoNum type="arabicPeriod"/>
            </a:pPr>
            <a:r>
              <a:rPr lang="ru-RU" dirty="0"/>
              <a:t>Техас – 864,542 ДТП</a:t>
            </a:r>
          </a:p>
          <a:p>
            <a:pPr marL="342900" indent="-342900">
              <a:buAutoNum type="arabicPeriod"/>
            </a:pPr>
            <a:r>
              <a:rPr lang="ru-RU" dirty="0"/>
              <a:t>Флорида – 768,923 ДТП</a:t>
            </a:r>
          </a:p>
          <a:p>
            <a:pPr marL="342900" indent="-342900">
              <a:buAutoNum type="arabicPeriod"/>
            </a:pPr>
            <a:r>
              <a:rPr lang="ru-RU" dirty="0"/>
              <a:t>Южная Каролина – 510,555 ДТП</a:t>
            </a:r>
          </a:p>
          <a:p>
            <a:pPr marL="342900" indent="-342900">
              <a:buAutoNum type="arabicPeriod"/>
            </a:pPr>
            <a:r>
              <a:rPr lang="ru-RU" dirty="0"/>
              <a:t>Нью-Йорк – 469,037 ДТП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31E44-EFC2-E8CC-8E71-43E13A90A8EF}"/>
              </a:ext>
            </a:extLst>
          </p:cNvPr>
          <p:cNvSpPr txBox="1"/>
          <p:nvPr/>
        </p:nvSpPr>
        <p:spPr>
          <a:xfrm>
            <a:off x="6216769" y="5061584"/>
            <a:ext cx="4787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Самые тяжелые аварии:</a:t>
            </a:r>
          </a:p>
          <a:p>
            <a:pPr marL="342900" indent="-342900">
              <a:buAutoNum type="arabicPeriod"/>
            </a:pPr>
            <a:r>
              <a:rPr lang="ru-RU" dirty="0"/>
              <a:t>Джорджия (</a:t>
            </a:r>
            <a:r>
              <a:rPr lang="en-US" dirty="0"/>
              <a:t>GA</a:t>
            </a:r>
            <a:r>
              <a:rPr lang="ru-RU" dirty="0"/>
              <a:t>)</a:t>
            </a:r>
            <a:r>
              <a:rPr lang="en-US" dirty="0"/>
              <a:t> – </a:t>
            </a:r>
            <a:r>
              <a:rPr lang="ru-RU" dirty="0"/>
              <a:t>средняя тяжесть 2.51</a:t>
            </a:r>
          </a:p>
          <a:p>
            <a:pPr marL="342900" indent="-342900">
              <a:buAutoNum type="arabicPeriod"/>
            </a:pPr>
            <a:r>
              <a:rPr lang="ru-RU" dirty="0"/>
              <a:t>Теннесси (</a:t>
            </a:r>
            <a:r>
              <a:rPr lang="en-US" dirty="0"/>
              <a:t>TN</a:t>
            </a:r>
            <a:r>
              <a:rPr lang="ru-RU" dirty="0"/>
              <a:t>)</a:t>
            </a:r>
            <a:r>
              <a:rPr lang="en-US" dirty="0"/>
              <a:t> – </a:t>
            </a:r>
            <a:r>
              <a:rPr lang="ru-RU" dirty="0"/>
              <a:t>средняя тяжесть 2.49</a:t>
            </a:r>
          </a:p>
          <a:p>
            <a:pPr marL="342900" indent="-342900">
              <a:buAutoNum type="arabicPeriod"/>
            </a:pPr>
            <a:r>
              <a:rPr lang="ru-RU" dirty="0"/>
              <a:t>Алабама (</a:t>
            </a:r>
            <a:r>
              <a:rPr lang="en-US" dirty="0"/>
              <a:t>AL</a:t>
            </a:r>
            <a:r>
              <a:rPr lang="ru-RU" dirty="0"/>
              <a:t>)</a:t>
            </a:r>
            <a:r>
              <a:rPr lang="en-US" dirty="0"/>
              <a:t> – </a:t>
            </a:r>
            <a:r>
              <a:rPr lang="ru-RU" dirty="0"/>
              <a:t>средняя тяжесть 2.48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B547912-4454-42B2-E778-7625627D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71628"/>
            <a:ext cx="10515601" cy="387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2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D4CFF-C2AC-3BB0-5418-21BF2139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ИНСАЙТ 3 – Тяжесть аварий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A670175-0971-A3B4-E7AB-83DC1FDA7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442326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85A49F-FEBC-EFE9-C5E2-58D89189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EDCF8-9817-B7D5-CB7A-23153EB609E6}"/>
              </a:ext>
            </a:extLst>
          </p:cNvPr>
          <p:cNvSpPr txBox="1"/>
          <p:nvPr/>
        </p:nvSpPr>
        <p:spPr>
          <a:xfrm>
            <a:off x="838200" y="5141730"/>
            <a:ext cx="4321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Распределение по тяжести:</a:t>
            </a:r>
          </a:p>
          <a:p>
            <a:r>
              <a:rPr lang="ru-RU" dirty="0"/>
              <a:t>80.5% - Легкие аварии (уровень 1-2)</a:t>
            </a:r>
          </a:p>
          <a:p>
            <a:r>
              <a:rPr lang="ru-RU" dirty="0"/>
              <a:t>19.5% - Тяжелые аварии (уровень 3-4)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72415B-442B-CB2E-1684-F5E8CBD8281F}"/>
              </a:ext>
            </a:extLst>
          </p:cNvPr>
          <p:cNvSpPr txBox="1"/>
          <p:nvPr/>
        </p:nvSpPr>
        <p:spPr>
          <a:xfrm>
            <a:off x="6096000" y="5167312"/>
            <a:ext cx="4261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Временные особенности:</a:t>
            </a:r>
            <a:br>
              <a:rPr lang="ru-RU" dirty="0"/>
            </a:br>
            <a:r>
              <a:rPr lang="ru-RU" dirty="0"/>
              <a:t>Ночью (22-4) – самые тяжелые аварии</a:t>
            </a:r>
          </a:p>
          <a:p>
            <a:r>
              <a:rPr lang="ru-RU" dirty="0"/>
              <a:t>Утром (5-11) – самые легкие аварии</a:t>
            </a:r>
          </a:p>
        </p:txBody>
      </p:sp>
    </p:spTree>
    <p:extLst>
      <p:ext uri="{BB962C8B-B14F-4D97-AF65-F5344CB8AC3E}">
        <p14:creationId xmlns:p14="http://schemas.microsoft.com/office/powerpoint/2010/main" val="32187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07EC0C-F76D-074E-5519-C7E624830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ИНСАЙТ 4 – Погодные условия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5E99E18-71DC-6EF9-3852-4A5D9F0EC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3331"/>
            <a:ext cx="7960743" cy="547078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DF0FE2-7194-6341-A61D-AAACB555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0799D-4B57-0DE4-C714-3F8EDDD44419}"/>
              </a:ext>
            </a:extLst>
          </p:cNvPr>
          <p:cNvSpPr txBox="1"/>
          <p:nvPr/>
        </p:nvSpPr>
        <p:spPr>
          <a:xfrm>
            <a:off x="9144000" y="1397479"/>
            <a:ext cx="28467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Частота ДТП по погоде:</a:t>
            </a:r>
          </a:p>
          <a:p>
            <a:r>
              <a:rPr lang="ru-RU" dirty="0"/>
              <a:t>33.1% - Ясная(!) погода</a:t>
            </a:r>
          </a:p>
          <a:p>
            <a:r>
              <a:rPr lang="ru-RU" dirty="0"/>
              <a:t>13.5% - Облачно</a:t>
            </a:r>
          </a:p>
          <a:p>
            <a:r>
              <a:rPr lang="ru-RU" dirty="0"/>
              <a:t>12.9% - Пасмурно</a:t>
            </a:r>
          </a:p>
          <a:p>
            <a:endParaRPr lang="ru-RU" dirty="0"/>
          </a:p>
          <a:p>
            <a:r>
              <a:rPr lang="ru-RU" dirty="0"/>
              <a:t>Ключевой вывод:</a:t>
            </a:r>
          </a:p>
          <a:p>
            <a:r>
              <a:rPr lang="ru-RU" dirty="0"/>
              <a:t>Большинство ДТП происходит в хорошую погоду.</a:t>
            </a:r>
          </a:p>
          <a:p>
            <a:endParaRPr lang="ru-RU" dirty="0"/>
          </a:p>
          <a:p>
            <a:r>
              <a:rPr lang="ru-RU" dirty="0"/>
              <a:t>Корреляция с тяжестью составила менее </a:t>
            </a:r>
            <a:r>
              <a:rPr lang="en-US" dirty="0"/>
              <a:t>&lt;0.05, </a:t>
            </a:r>
            <a:r>
              <a:rPr lang="ru-RU" dirty="0"/>
              <a:t>что очень мало, а значит тяжесть ДТП слабо зависит от погодных условий.</a:t>
            </a:r>
          </a:p>
        </p:txBody>
      </p:sp>
    </p:spTree>
    <p:extLst>
      <p:ext uri="{BB962C8B-B14F-4D97-AF65-F5344CB8AC3E}">
        <p14:creationId xmlns:p14="http://schemas.microsoft.com/office/powerpoint/2010/main" val="198232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8DE58-0B3F-0CF2-EBD6-721BD6A0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КАЧЕСТВА ДАННЫХ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F884D7F-9387-CC88-689E-81DCB3F45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213935"/>
              </p:ext>
            </p:extLst>
          </p:nvPr>
        </p:nvGraphicFramePr>
        <p:xfrm>
          <a:off x="838200" y="2281597"/>
          <a:ext cx="10515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090292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35488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89507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Метрика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Оценка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532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Completeness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95.4%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Отлично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910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Uniqueness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Идеально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514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Outlier Ratio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2.01%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Норма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69424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719878-B18F-32AF-2E2B-7EE96152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40355-84F2-A75E-1DE9-083549529C72}"/>
              </a:ext>
            </a:extLst>
          </p:cNvPr>
          <p:cNvSpPr txBox="1"/>
          <p:nvPr/>
        </p:nvSpPr>
        <p:spPr>
          <a:xfrm>
            <a:off x="838200" y="4067355"/>
            <a:ext cx="4252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0 дубликатов по </a:t>
            </a:r>
            <a:r>
              <a:rPr lang="en-US" dirty="0"/>
              <a:t>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0 </a:t>
            </a:r>
            <a:r>
              <a:rPr lang="ru-RU" dirty="0"/>
              <a:t>колонок с заполненностью </a:t>
            </a:r>
            <a:r>
              <a:rPr lang="en-US" dirty="0"/>
              <a:t>&lt;50%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Выбросы находятся в пределах нормы</a:t>
            </a:r>
          </a:p>
        </p:txBody>
      </p:sp>
    </p:spTree>
    <p:extLst>
      <p:ext uri="{BB962C8B-B14F-4D97-AF65-F5344CB8AC3E}">
        <p14:creationId xmlns:p14="http://schemas.microsoft.com/office/powerpoint/2010/main" val="4207402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B0E1E-A871-EB4B-3D0F-E15B20C0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6D31BE-35F8-5FF6-84F7-1E45ABAC9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87" y="1690688"/>
            <a:ext cx="5436079" cy="4368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КАЧЕСТВО ДАННЫХ: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800" dirty="0"/>
              <a:t>  1. Полнота данных: 95.4% - ХОРОШО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800" dirty="0"/>
              <a:t>  2. Уникальность записей: 100.0% - ОТЛИЧНО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1800" dirty="0"/>
              <a:t>  3. Доля выбросов: 2.0% - НОРМА</a:t>
            </a:r>
          </a:p>
          <a:p>
            <a:endParaRPr lang="ru-RU" sz="1400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D27562-1428-2556-2FE0-CF7C0BE9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10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25708-A14C-AB47-124C-FB4A27B27854}"/>
              </a:ext>
            </a:extLst>
          </p:cNvPr>
          <p:cNvSpPr txBox="1"/>
          <p:nvPr/>
        </p:nvSpPr>
        <p:spPr>
          <a:xfrm>
            <a:off x="6117566" y="1690688"/>
            <a:ext cx="49860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КЛЮЧЕВЫЕ ИНСАЙТЫ: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Пик аварийности: 7.0:00 (546,789 ДТП)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Самый опасный день: </a:t>
            </a:r>
            <a:r>
              <a:rPr lang="ru-RU" dirty="0" err="1"/>
              <a:t>Пт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Тяжелые аварии: 19.5% от общего числа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Самый аварийный штат: CA (1,741,433 ДТП)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9830D-2952-673E-4E5A-FC7A483FB1B6}"/>
              </a:ext>
            </a:extLst>
          </p:cNvPr>
          <p:cNvSpPr txBox="1"/>
          <p:nvPr/>
        </p:nvSpPr>
        <p:spPr>
          <a:xfrm>
            <a:off x="681487" y="3433313"/>
            <a:ext cx="10515600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kern="100" dirty="0">
                <a:effectLst/>
                <a:latin typeface="Aptos (Основной текст)"/>
                <a:ea typeface="Aptos" panose="020B0004020202020204" pitchFamily="34" charset="0"/>
                <a:cs typeface="Times New Roman" panose="02020603050405020304" pitchFamily="18" charset="0"/>
              </a:rPr>
              <a:t>РЕКОМЕНДАЦИИ ДЛЯ ПОВЫШЕНИЯ БЕЗОПАСНОСТИ:</a:t>
            </a:r>
          </a:p>
          <a:p>
            <a:pPr>
              <a:lnSpc>
                <a:spcPct val="150000"/>
              </a:lnSpc>
            </a:pPr>
            <a:r>
              <a:rPr lang="ru-RU" sz="1800" kern="100" dirty="0">
                <a:effectLst/>
                <a:latin typeface="Aptos (Основной текст)"/>
                <a:ea typeface="Aptos" panose="020B0004020202020204" pitchFamily="34" charset="0"/>
                <a:cs typeface="Times New Roman" panose="02020603050405020304" pitchFamily="18" charset="0"/>
              </a:rPr>
              <a:t>  1. Усилить патрулирование в пиковые часы и дни недели</a:t>
            </a:r>
          </a:p>
          <a:p>
            <a:pPr>
              <a:lnSpc>
                <a:spcPct val="150000"/>
              </a:lnSpc>
            </a:pPr>
            <a:r>
              <a:rPr lang="ru-RU" sz="1800" kern="100" dirty="0">
                <a:effectLst/>
                <a:latin typeface="Aptos (Основной текст)"/>
                <a:ea typeface="Aptos" panose="020B0004020202020204" pitchFamily="34" charset="0"/>
                <a:cs typeface="Times New Roman" panose="02020603050405020304" pitchFamily="18" charset="0"/>
              </a:rPr>
              <a:t>  2. Улучшить освещение дорог в вечернее и ночное время</a:t>
            </a:r>
          </a:p>
          <a:p>
            <a:pPr>
              <a:lnSpc>
                <a:spcPct val="150000"/>
              </a:lnSpc>
            </a:pPr>
            <a:r>
              <a:rPr lang="ru-RU" sz="1800" kern="100" dirty="0">
                <a:effectLst/>
                <a:latin typeface="Aptos (Основной текст)"/>
                <a:ea typeface="Aptos" panose="020B0004020202020204" pitchFamily="34" charset="0"/>
                <a:cs typeface="Times New Roman" panose="02020603050405020304" pitchFamily="18" charset="0"/>
              </a:rPr>
              <a:t>  3. Проводить профилактические мероприятия в опасных погодных условиях</a:t>
            </a:r>
          </a:p>
          <a:p>
            <a:pPr>
              <a:lnSpc>
                <a:spcPct val="150000"/>
              </a:lnSpc>
            </a:pPr>
            <a:r>
              <a:rPr lang="ru-RU" sz="1800" kern="100" dirty="0">
                <a:effectLst/>
                <a:latin typeface="Aptos (Основной текст)"/>
                <a:ea typeface="Aptos" panose="020B0004020202020204" pitchFamily="34" charset="0"/>
                <a:cs typeface="Times New Roman" panose="02020603050405020304" pitchFamily="18" charset="0"/>
              </a:rPr>
              <a:t>  4. Сконцентрировать ресурсы в самых аварийных регионах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Aptos (Основной текст)"/>
                <a:ea typeface="Aptos" panose="020B0004020202020204" pitchFamily="34" charset="0"/>
                <a:cs typeface="Times New Roman" panose="02020603050405020304" pitchFamily="18" charset="0"/>
              </a:rPr>
              <a:t>  5. Разработать систему предупреждения водителей об опасных участках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96990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Широкоэкранный</PresentationFormat>
  <Paragraphs>115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(Основной текст)</vt:lpstr>
      <vt:lpstr>Aptos Display</vt:lpstr>
      <vt:lpstr>Arial</vt:lpstr>
      <vt:lpstr>Wingdings</vt:lpstr>
      <vt:lpstr>Тема Office</vt:lpstr>
      <vt:lpstr>ПРЕЗЕНТАЦИЯ ПРОЕКТА: АНАЛИТИЧЕСКАЯ ПЛАТФОРМА ДЛЯ СНИЖЕНИЯ ДТП</vt:lpstr>
      <vt:lpstr>Цель и бизнес-проблема</vt:lpstr>
      <vt:lpstr>Методология</vt:lpstr>
      <vt:lpstr>Данные и обработка</vt:lpstr>
      <vt:lpstr>ИНСАЙТ 1 – Временные паттерны</vt:lpstr>
      <vt:lpstr>ИНСАЙТ 2 - География</vt:lpstr>
      <vt:lpstr>ИНСАЙТ 3 – Тяжесть аварий</vt:lpstr>
      <vt:lpstr>ИНСАЙТ 4 – Погодные условия</vt:lpstr>
      <vt:lpstr>АНАЛИЗ КАЧЕСТВА ДАННЫХ</vt:lpstr>
      <vt:lpstr>Выводы и рекомендации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</dc:creator>
  <cp:lastModifiedBy>Tem</cp:lastModifiedBy>
  <cp:revision>1</cp:revision>
  <dcterms:created xsi:type="dcterms:W3CDTF">2026-01-03T15:34:18Z</dcterms:created>
  <dcterms:modified xsi:type="dcterms:W3CDTF">2026-01-03T15:34:31Z</dcterms:modified>
</cp:coreProperties>
</file>